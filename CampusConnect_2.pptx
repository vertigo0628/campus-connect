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0F8978-79CC-446B-B3F8-CADD8E5D5B8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0D0C2D-1341-4207-BFB8-EC7D571782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C439A8-5A1B-43F2-8301-45C1CB7F33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FA1EBC-EF25-43C2-B155-042D5C5FDB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E998F11-7CFE-429A-8035-63041ACCD7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A26455C-F859-404D-BB35-202956BD59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7785EC2-B1B0-44E7-882C-4FB8C018330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659ACA-DB43-4AB6-BF2C-7FEE5922BF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4EA2CD-FC6F-406E-A7B7-7F183D0E691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94C317-CECA-41FE-BAB4-E3744DAD232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886E77-9544-48AB-81E9-E8DA12167A2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image" Target="../media/image12.jpeg"/><Relationship Id="rId5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4.jpeg"/><Relationship Id="rId3" Type="http://schemas.openxmlformats.org/officeDocument/2006/relationships/image" Target="../media/image15.jpeg"/><Relationship Id="rId4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914400" y="2011680"/>
            <a:ext cx="1033236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200" b="1" u="none" strike="noStrike">
                <a:solidFill>
                  <a:srgbClr val="00A884"/>
                </a:solidFill>
                <a:effectLst/>
                <a:uFillTx/>
                <a:latin typeface="Calibri"/>
              </a:rPr>
              <a:t>Campus Connect Kenya</a:t>
            </a:r>
            <a:endParaRPr lang="en-U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3600" b="0" u="none" strike="noStrike">
                <a:solidFill>
                  <a:srgbClr val="E9EDEF"/>
                </a:solidFill>
                <a:effectLst/>
                <a:uFillTx/>
                <a:latin typeface="Calibri"/>
              </a:rPr>
              <a:t>The Trusted Logical Layer for the Modern Comrade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1"/>
          <p:cNvSpPr/>
          <p:nvPr/>
        </p:nvSpPr>
        <p:spPr>
          <a:xfrm>
            <a:off x="457200" y="365760"/>
            <a:ext cx="11274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A884"/>
                </a:solidFill>
                <a:effectLst/>
                <a:uFillTx/>
                <a:latin typeface="Arial"/>
              </a:rPr>
              <a:t>The Fragmented Campus Experience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2"/>
          <p:cNvSpPr/>
          <p:nvPr/>
        </p:nvSpPr>
        <p:spPr>
          <a:xfrm>
            <a:off x="457200" y="2011680"/>
            <a:ext cx="1127412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801"/>
              </a:spcAft>
            </a:pPr>
            <a:r>
              <a:rPr lang="en-US" sz="3600" b="1" u="none" strike="noStrike">
                <a:solidFill>
                  <a:srgbClr val="E9EDEF"/>
                </a:solidFill>
                <a:effectLst/>
                <a:uFillTx/>
                <a:latin typeface="Calibri"/>
              </a:rPr>
              <a:t>Students operate in the dark, leading to missed opportunities.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Scams thrive in unverified public social groups.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Critical academic/housing info is scattered.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Result: Low user safety and communication loss.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457200" y="365760"/>
            <a:ext cx="11274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A884"/>
                </a:solidFill>
                <a:effectLst/>
                <a:uFillTx/>
                <a:latin typeface="Arial"/>
              </a:rPr>
              <a:t>Bridging the Trust Gap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" name="Picture 2" descr="media__1775448701407.jpg"/>
          <p:cNvPicPr/>
          <p:nvPr/>
        </p:nvPicPr>
        <p:blipFill>
          <a:blip r:embed="rId1"/>
          <a:stretch/>
        </p:blipFill>
        <p:spPr>
          <a:xfrm>
            <a:off x="457200" y="1097280"/>
            <a:ext cx="2325240" cy="530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Box 3"/>
          <p:cNvSpPr/>
          <p:nvPr/>
        </p:nvSpPr>
        <p:spPr>
          <a:xfrm>
            <a:off x="5486400" y="2011680"/>
            <a:ext cx="62175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801"/>
              </a:spcAft>
            </a:pPr>
            <a:r>
              <a:rPr lang="en-US" sz="3600" b="1" u="none" strike="noStrike">
                <a:solidFill>
                  <a:srgbClr val="E9EDEF"/>
                </a:solidFill>
                <a:effectLst/>
                <a:uFillTx/>
                <a:latin typeface="Calibri"/>
              </a:rPr>
              <a:t>A centralized, real-time ecosystem built exclusively for students.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Secure .ac.ke authentication foundation.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Combines marketplace, social, and safety hubs.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A unique alternative to fragmented platforms.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457200" y="365760"/>
            <a:ext cx="11274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A884"/>
                </a:solidFill>
                <a:effectLst/>
                <a:uFillTx/>
                <a:latin typeface="Arial"/>
              </a:rPr>
              <a:t>Multi-Stream Data Intelligence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457200" y="2011680"/>
            <a:ext cx="1127412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801"/>
              </a:spcAft>
            </a:pPr>
            <a:r>
              <a:rPr lang="en-US" sz="3600" b="1" u="none" strike="noStrike">
                <a:solidFill>
                  <a:srgbClr val="E9EDEF"/>
                </a:solidFill>
                <a:effectLst/>
                <a:uFillTx/>
                <a:latin typeface="Calibri"/>
              </a:rPr>
              <a:t>Dynamic data driving every interaction.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User: Profiles, Commerce, Reviews.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Admin: Announcements &amp; Timetables.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System: Real-time SOS telemetry.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457200" y="365760"/>
            <a:ext cx="11274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A884"/>
                </a:solidFill>
                <a:effectLst/>
                <a:uFillTx/>
                <a:latin typeface="Arial"/>
              </a:rPr>
              <a:t>The Currency of Trust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" name="Picture 2" descr="media__1775448702096.jpg"/>
          <p:cNvPicPr/>
          <p:nvPr/>
        </p:nvPicPr>
        <p:blipFill>
          <a:blip r:embed="rId1"/>
          <a:stretch/>
        </p:blipFill>
        <p:spPr>
          <a:xfrm>
            <a:off x="7589520" y="1097280"/>
            <a:ext cx="2325240" cy="530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Box 3"/>
          <p:cNvSpPr/>
          <p:nvPr/>
        </p:nvSpPr>
        <p:spPr>
          <a:xfrm>
            <a:off x="457200" y="2011680"/>
            <a:ext cx="62175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801"/>
              </a:spcAft>
            </a:pPr>
            <a:r>
              <a:rPr lang="en-US" sz="3600" b="1" u="none" strike="noStrike">
                <a:solidFill>
                  <a:srgbClr val="E9EDEF"/>
                </a:solidFill>
                <a:effectLst/>
                <a:uFillTx/>
                <a:latin typeface="Calibri"/>
              </a:rPr>
              <a:t>Data is our filter for a high-trust campus economy.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Verified domain marks prioritize genuine actors.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Reputation metrics and 5-star ratings deter scams.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Strategic Relevance: Physical &amp; Digital Safety.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457200" y="365760"/>
            <a:ext cx="294624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A884"/>
                </a:solidFill>
                <a:effectLst/>
                <a:uFillTx/>
                <a:latin typeface="Arial"/>
              </a:rPr>
              <a:t> Blueprint.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" name="Picture 2" descr="figma_landing_wireframe_png_1775451295703.png"/>
          <p:cNvPicPr/>
          <p:nvPr/>
        </p:nvPicPr>
        <p:blipFill>
          <a:blip r:embed="rId1"/>
          <a:stretch/>
        </p:blipFill>
        <p:spPr>
          <a:xfrm>
            <a:off x="11520" y="1600200"/>
            <a:ext cx="3874680" cy="457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Picture 4" descr="figma_profile_wireframe_1775450000001_png_1775451138473.png"/>
          <p:cNvPicPr/>
          <p:nvPr/>
        </p:nvPicPr>
        <p:blipFill>
          <a:blip r:embed="rId2"/>
          <a:stretch/>
        </p:blipFill>
        <p:spPr>
          <a:xfrm>
            <a:off x="5258160" y="1600200"/>
            <a:ext cx="4571640" cy="457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Picture 5" descr="figma_hostels_wireframe_png_1775451480475.png"/>
          <p:cNvPicPr/>
          <p:nvPr/>
        </p:nvPicPr>
        <p:blipFill>
          <a:blip r:embed="rId3"/>
          <a:stretch/>
        </p:blipFill>
        <p:spPr>
          <a:xfrm>
            <a:off x="8534160" y="1600200"/>
            <a:ext cx="3657600" cy="457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Picture 1" descr="figma_feed_wireframe_1775450000000_png_1775451075892.png"/>
          <p:cNvPicPr/>
          <p:nvPr/>
        </p:nvPicPr>
        <p:blipFill>
          <a:blip r:embed="rId4"/>
          <a:stretch/>
        </p:blipFill>
        <p:spPr>
          <a:xfrm>
            <a:off x="2743200" y="1600560"/>
            <a:ext cx="3886200" cy="457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457200" y="365760"/>
            <a:ext cx="1099692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A884"/>
                </a:solidFill>
                <a:effectLst/>
                <a:uFillTx/>
                <a:latin typeface="Arial"/>
              </a:rPr>
              <a:t> Blueprint -(Safety &amp; Discovery screens).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" name="Picture 2" descr="figma_sos_wireframe_png_1775451308445.png"/>
          <p:cNvPicPr/>
          <p:nvPr/>
        </p:nvPicPr>
        <p:blipFill>
          <a:blip r:embed="rId1"/>
          <a:stretch/>
        </p:blipFill>
        <p:spPr>
          <a:xfrm>
            <a:off x="0" y="1279800"/>
            <a:ext cx="4571640" cy="457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Picture 3" descr="discover_wireframe_sketch_1775446802946.png"/>
          <p:cNvPicPr/>
          <p:nvPr/>
        </p:nvPicPr>
        <p:blipFill>
          <a:blip r:embed="rId2"/>
          <a:stretch/>
        </p:blipFill>
        <p:spPr>
          <a:xfrm>
            <a:off x="3657600" y="1371960"/>
            <a:ext cx="3657600" cy="4343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Picture 4" descr="chat_wireframe_sketch_1775446958369.png"/>
          <p:cNvPicPr/>
          <p:nvPr/>
        </p:nvPicPr>
        <p:blipFill>
          <a:blip r:embed="rId3"/>
          <a:stretch/>
        </p:blipFill>
        <p:spPr>
          <a:xfrm>
            <a:off x="7544160" y="1371600"/>
            <a:ext cx="4114440" cy="4343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5"/>
          <p:cNvSpPr/>
          <p:nvPr/>
        </p:nvSpPr>
        <p:spPr>
          <a:xfrm>
            <a:off x="457200" y="365760"/>
            <a:ext cx="11274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A884"/>
                </a:solidFill>
                <a:effectLst/>
                <a:uFillTx/>
                <a:latin typeface="Arial"/>
              </a:rPr>
              <a:t>Functional Showcase: The Comrade Hub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" name="Picture 6" descr="media__1775448701407.jpg"/>
          <p:cNvPicPr/>
          <p:nvPr/>
        </p:nvPicPr>
        <p:blipFill>
          <a:blip r:embed="rId1"/>
          <a:stretch/>
        </p:blipFill>
        <p:spPr>
          <a:xfrm>
            <a:off x="457200" y="1463040"/>
            <a:ext cx="2004480" cy="457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Picture 7" descr="media__1775448701822.jpg"/>
          <p:cNvPicPr/>
          <p:nvPr/>
        </p:nvPicPr>
        <p:blipFill>
          <a:blip r:embed="rId2"/>
          <a:stretch/>
        </p:blipFill>
        <p:spPr>
          <a:xfrm>
            <a:off x="3383280" y="1463040"/>
            <a:ext cx="2004480" cy="457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Picture 8" descr="media__1775449050447.jpg"/>
          <p:cNvPicPr/>
          <p:nvPr/>
        </p:nvPicPr>
        <p:blipFill>
          <a:blip r:embed="rId3"/>
          <a:stretch/>
        </p:blipFill>
        <p:spPr>
          <a:xfrm>
            <a:off x="6309360" y="1463040"/>
            <a:ext cx="2004480" cy="457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Picture 9" descr="media__1775449050430.jpg"/>
          <p:cNvPicPr/>
          <p:nvPr/>
        </p:nvPicPr>
        <p:blipFill>
          <a:blip r:embed="rId4"/>
          <a:stretch/>
        </p:blipFill>
        <p:spPr>
          <a:xfrm>
            <a:off x="9235440" y="1463040"/>
            <a:ext cx="2004480" cy="457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4"/>
          <p:cNvSpPr/>
          <p:nvPr/>
        </p:nvSpPr>
        <p:spPr>
          <a:xfrm>
            <a:off x="457200" y="365760"/>
            <a:ext cx="1105740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A884"/>
                </a:solidFill>
                <a:effectLst/>
                <a:uFillTx/>
                <a:latin typeface="Arial"/>
              </a:rPr>
              <a:t>Functional Showcase: The Comrade Hub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" name=""/>
          <p:cNvPicPr/>
          <p:nvPr/>
        </p:nvPicPr>
        <p:blipFill>
          <a:blip r:embed="rId1"/>
          <a:stretch/>
        </p:blipFill>
        <p:spPr>
          <a:xfrm>
            <a:off x="3619080" y="1126440"/>
            <a:ext cx="3010320" cy="550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"/>
          <p:cNvPicPr/>
          <p:nvPr/>
        </p:nvPicPr>
        <p:blipFill>
          <a:blip r:embed="rId2"/>
          <a:stretch/>
        </p:blipFill>
        <p:spPr>
          <a:xfrm>
            <a:off x="6858000" y="1126440"/>
            <a:ext cx="3010320" cy="550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"/>
          <p:cNvPicPr/>
          <p:nvPr/>
        </p:nvPicPr>
        <p:blipFill>
          <a:blip r:embed="rId3"/>
          <a:stretch/>
        </p:blipFill>
        <p:spPr>
          <a:xfrm>
            <a:off x="457200" y="1143000"/>
            <a:ext cx="3010320" cy="548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457200" y="365760"/>
            <a:ext cx="11274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A884"/>
                </a:solidFill>
                <a:effectLst/>
                <a:uFillTx/>
                <a:latin typeface="Arial"/>
              </a:rPr>
              <a:t>Systems Thinking Architecture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1" name="Picture 2" descr="campus_system_diagram_v2_1775448750322.png"/>
          <p:cNvPicPr/>
          <p:nvPr/>
        </p:nvPicPr>
        <p:blipFill>
          <a:blip r:embed="rId1"/>
          <a:stretch/>
        </p:blipFill>
        <p:spPr>
          <a:xfrm>
            <a:off x="6172200" y="1051200"/>
            <a:ext cx="5943600" cy="553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Box 3"/>
          <p:cNvSpPr/>
          <p:nvPr/>
        </p:nvSpPr>
        <p:spPr>
          <a:xfrm>
            <a:off x="457200" y="2011680"/>
            <a:ext cx="62175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801"/>
              </a:spcAft>
            </a:pPr>
            <a:r>
              <a:rPr lang="en-US" sz="3600" b="1" u="none" strike="noStrike">
                <a:solidFill>
                  <a:srgbClr val="E9EDEF"/>
                </a:solidFill>
                <a:effectLst/>
                <a:uFillTx/>
                <a:latin typeface="Calibri"/>
              </a:rPr>
              <a:t>Interconnecting Users, Technology, and Unified Logic.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Next.js/Firebase Hybrid Cloud architecture.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Johns Hopkins parallel: Safety is an essential driver.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A self-sustaining loop of trade and security.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1"/>
          <p:cNvSpPr/>
          <p:nvPr/>
        </p:nvSpPr>
        <p:spPr>
          <a:xfrm>
            <a:off x="457200" y="365760"/>
            <a:ext cx="11274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A884"/>
                </a:solidFill>
                <a:effectLst/>
                <a:uFillTx/>
                <a:latin typeface="Arial"/>
              </a:rPr>
              <a:t>User-Obsessed Design Strategy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4" name="Picture 2" descr="media__1775449050535.jpg"/>
          <p:cNvPicPr/>
          <p:nvPr/>
        </p:nvPicPr>
        <p:blipFill>
          <a:blip r:embed="rId1"/>
          <a:stretch/>
        </p:blipFill>
        <p:spPr>
          <a:xfrm>
            <a:off x="457200" y="1097280"/>
            <a:ext cx="2325240" cy="530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Box 3"/>
          <p:cNvSpPr/>
          <p:nvPr/>
        </p:nvSpPr>
        <p:spPr>
          <a:xfrm>
            <a:off x="5486400" y="2011680"/>
            <a:ext cx="62175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801"/>
              </a:spcAft>
            </a:pPr>
            <a:r>
              <a:rPr lang="en-US" sz="3600" b="1" u="none" strike="noStrike">
                <a:solidFill>
                  <a:srgbClr val="E9EDEF"/>
                </a:solidFill>
                <a:effectLst/>
                <a:uFillTx/>
                <a:latin typeface="Calibri"/>
              </a:rPr>
              <a:t>Designed to solve the daily struggles of student life.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A dedicated marketplace for side-hustles.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One-tap verified housing (Hostel Finder).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Community-led academic support (Study Groups).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1"/>
          <p:cNvSpPr/>
          <p:nvPr/>
        </p:nvSpPr>
        <p:spPr>
          <a:xfrm>
            <a:off x="457200" y="365760"/>
            <a:ext cx="11274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A884"/>
                </a:solidFill>
                <a:effectLst/>
                <a:uFillTx/>
                <a:latin typeface="Arial"/>
              </a:rPr>
              <a:t>Justification of Technical Decisions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457200" y="2011680"/>
            <a:ext cx="1127412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801"/>
              </a:spcAft>
            </a:pPr>
            <a:r>
              <a:rPr lang="en-US" sz="3600" b="1" u="none" strike="noStrike">
                <a:solidFill>
                  <a:srgbClr val="E9EDEF"/>
                </a:solidFill>
                <a:effectLst/>
                <a:uFillTx/>
                <a:latin typeface="Calibri"/>
              </a:rPr>
              <a:t>Strategic choices based on evidence, not assumptions.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Root Cause Analysis: Solved trust, not just tech.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Assumption: Utility drives higher retention than social.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Evidence-Based: Next.js + Firebase for speed.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/>
          <p:nvPr/>
        </p:nvSpPr>
        <p:spPr>
          <a:xfrm>
            <a:off x="457200" y="365760"/>
            <a:ext cx="11274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A884"/>
                </a:solidFill>
                <a:effectLst/>
                <a:uFillTx/>
                <a:latin typeface="Arial"/>
              </a:rPr>
              <a:t>Driving Institutional Impact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9" name="Picture 2" descr="media__1775449050430.jpg"/>
          <p:cNvPicPr/>
          <p:nvPr/>
        </p:nvPicPr>
        <p:blipFill>
          <a:blip r:embed="rId1"/>
          <a:stretch/>
        </p:blipFill>
        <p:spPr>
          <a:xfrm>
            <a:off x="7589520" y="1097280"/>
            <a:ext cx="2325240" cy="530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Box 3"/>
          <p:cNvSpPr/>
          <p:nvPr/>
        </p:nvSpPr>
        <p:spPr>
          <a:xfrm>
            <a:off x="457200" y="2011680"/>
            <a:ext cx="62175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801"/>
              </a:spcAft>
            </a:pPr>
            <a:r>
              <a:rPr lang="en-US" sz="3600" b="1" u="none" strike="noStrike">
                <a:solidFill>
                  <a:srgbClr val="E9EDEF"/>
                </a:solidFill>
                <a:effectLst/>
                <a:uFillTx/>
                <a:latin typeface="Calibri"/>
              </a:rPr>
              <a:t>Transforming how students live, trade, and connect.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Proactive SOS: Digital trigger to physical security.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Democratization: Removing trade barriers for students.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Synergy: Unified departmental academic tribes.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/>
          <p:nvPr/>
        </p:nvSpPr>
        <p:spPr>
          <a:xfrm>
            <a:off x="457200" y="365760"/>
            <a:ext cx="11274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A884"/>
                </a:solidFill>
                <a:effectLst/>
                <a:uFillTx/>
                <a:latin typeface="Arial"/>
              </a:rPr>
              <a:t>Future Horizons &amp; Continuous Pacing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457200" y="2011680"/>
            <a:ext cx="1127412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801"/>
              </a:spcAft>
            </a:pPr>
            <a:r>
              <a:rPr lang="en-US" sz="3600" b="1" u="none" strike="noStrike">
                <a:solidFill>
                  <a:srgbClr val="E9EDEF"/>
                </a:solidFill>
                <a:effectLst/>
                <a:uFillTx/>
                <a:latin typeface="Calibri"/>
              </a:rPr>
              <a:t>The roadmap for next-gen campus integration.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Current: Network adoption hurdles.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Future: Lipa-na-M-Pesa native API integration.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Scale: Deploying across all national universities.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"/>
          <p:cNvSpPr/>
          <p:nvPr/>
        </p:nvSpPr>
        <p:spPr>
          <a:xfrm>
            <a:off x="457200" y="365760"/>
            <a:ext cx="11274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A884"/>
                </a:solidFill>
                <a:effectLst/>
                <a:uFillTx/>
                <a:latin typeface="Arial"/>
              </a:rPr>
              <a:t>The New National Standard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2"/>
          <p:cNvSpPr/>
          <p:nvPr/>
        </p:nvSpPr>
        <p:spPr>
          <a:xfrm>
            <a:off x="457200" y="2011680"/>
            <a:ext cx="1127412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801"/>
              </a:spcAft>
            </a:pPr>
            <a:r>
              <a:rPr lang="en-US" sz="3600" b="1" u="none" strike="noStrike">
                <a:solidFill>
                  <a:srgbClr val="E9EDEF"/>
                </a:solidFill>
                <a:effectLst/>
                <a:uFillTx/>
                <a:latin typeface="Calibri"/>
              </a:rPr>
              <a:t>Fragmentation is now a unified comrade system.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Practical, scalable, and highly integrated.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2600" b="0" u="none" strike="noStrike">
                <a:solidFill>
                  <a:srgbClr val="B4BEC3"/>
                </a:solidFill>
                <a:effectLst/>
                <a:uFillTx/>
                <a:latin typeface="Calibri"/>
              </a:rPr>
              <a:t>• The Future of Digital Campus Life.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"/>
          <p:cNvSpPr/>
          <p:nvPr/>
        </p:nvSpPr>
        <p:spPr>
          <a:xfrm>
            <a:off x="0" y="2743200"/>
            <a:ext cx="121611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200" b="1" u="none" strike="noStrike">
                <a:solidFill>
                  <a:srgbClr val="00A884"/>
                </a:solidFill>
                <a:effectLst/>
                <a:uFillTx/>
                <a:latin typeface="Calibri"/>
              </a:rPr>
              <a:t>Questions &amp; Discussions</a:t>
            </a:r>
            <a:endParaRPr lang="en-U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LibreOffice/26.2.0.3$Linux_X86_64 LibreOffice_project/620$Build-3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2026-04-06T05:27:57Z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